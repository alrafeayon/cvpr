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12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DCCA-11E9-B26B-647B-D5DB4D79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167F9-E85D-7BF5-F997-95C89FA08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DA5CB-E416-1DFB-D39C-76938ABF9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465BC-A80A-EC6A-DD9D-9B6F0CE524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78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99583" y="815429"/>
            <a:ext cx="5411534" cy="1508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6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Failure-Aware Ensemble Perception for Autonomous Vehicles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507079" y="2583549"/>
            <a:ext cx="42194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5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Enhancing Safety Through Architectural Diversity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35784" y="3183440"/>
            <a:ext cx="762000" cy="381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75269" y="3727560"/>
            <a:ext cx="448499" cy="685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76F4C1-9863-E16B-ED33-86F99789DDAE}"/>
              </a:ext>
            </a:extLst>
          </p:cNvPr>
          <p:cNvSpPr txBox="1"/>
          <p:nvPr/>
        </p:nvSpPr>
        <p:spPr>
          <a:xfrm>
            <a:off x="5992616" y="3727560"/>
            <a:ext cx="20280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Course Teacher</a:t>
            </a:r>
          </a:p>
          <a:p>
            <a:pPr algn="ctr"/>
            <a:b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 M Abdullah Shafi</a:t>
            </a:r>
            <a:b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lecturer, Special Assistant [OSA]</a:t>
            </a:r>
          </a:p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311E00-35F5-8ECD-326D-5CEB5D5A4E49}"/>
              </a:ext>
            </a:extLst>
          </p:cNvPr>
          <p:cNvSpPr txBox="1"/>
          <p:nvPr/>
        </p:nvSpPr>
        <p:spPr>
          <a:xfrm>
            <a:off x="1123379" y="3727560"/>
            <a:ext cx="17524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Proposed by</a:t>
            </a:r>
          </a:p>
          <a:p>
            <a:pPr algn="ctr"/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Abdullah Al Rafe Ayon</a:t>
            </a:r>
          </a:p>
          <a:p>
            <a:pPr algn="ctr"/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Id-22-49628-3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EBD28-C9A6-EE9C-31A2-46E360FB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2CFB41-E427-FAD6-3FFC-A583F3007D1B}"/>
              </a:ext>
            </a:extLst>
          </p:cNvPr>
          <p:cNvSpPr/>
          <p:nvPr/>
        </p:nvSpPr>
        <p:spPr>
          <a:xfrm>
            <a:off x="190500" y="247650"/>
            <a:ext cx="38100" cy="2667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00EAC6-23AF-9C55-8D2F-551B8E883E7E}"/>
              </a:ext>
            </a:extLst>
          </p:cNvPr>
          <p:cNvSpPr/>
          <p:nvPr/>
        </p:nvSpPr>
        <p:spPr>
          <a:xfrm>
            <a:off x="342900" y="228600"/>
            <a:ext cx="31789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Research Motivation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A7429E-2288-0E13-FD89-CFF97713F93C}"/>
              </a:ext>
            </a:extLst>
          </p:cNvPr>
          <p:cNvSpPr/>
          <p:nvPr/>
        </p:nvSpPr>
        <p:spPr>
          <a:xfrm>
            <a:off x="542925" y="3574778"/>
            <a:ext cx="8382000" cy="36195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Current perception models fail silently and confidently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800E119-2103-EB67-D117-F64DBB4298DD}"/>
              </a:ext>
            </a:extLst>
          </p:cNvPr>
          <p:cNvSpPr/>
          <p:nvPr/>
        </p:nvSpPr>
        <p:spPr>
          <a:xfrm>
            <a:off x="464953" y="3042926"/>
            <a:ext cx="0" cy="36195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30C54BB-3A75-EFD9-D26D-E092C6D9C15C}"/>
              </a:ext>
            </a:extLst>
          </p:cNvPr>
          <p:cNvSpPr/>
          <p:nvPr/>
        </p:nvSpPr>
        <p:spPr>
          <a:xfrm>
            <a:off x="542925" y="1710779"/>
            <a:ext cx="82484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85DA1DC-B20C-F9F0-98A8-3856FD804FF2}"/>
              </a:ext>
            </a:extLst>
          </p:cNvPr>
          <p:cNvSpPr/>
          <p:nvPr/>
        </p:nvSpPr>
        <p:spPr>
          <a:xfrm>
            <a:off x="476155" y="3037507"/>
            <a:ext cx="8382000" cy="36195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Safety requires not just detection, but trustworthiness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1654AD4-1612-9B6D-D879-EE905D3C8850}"/>
              </a:ext>
            </a:extLst>
          </p:cNvPr>
          <p:cNvSpPr/>
          <p:nvPr/>
        </p:nvSpPr>
        <p:spPr>
          <a:xfrm>
            <a:off x="476155" y="3574462"/>
            <a:ext cx="0" cy="36195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566D1D1-47C1-5F60-4A1C-EE1FC00233A8}"/>
              </a:ext>
            </a:extLst>
          </p:cNvPr>
          <p:cNvSpPr/>
          <p:nvPr/>
        </p:nvSpPr>
        <p:spPr>
          <a:xfrm>
            <a:off x="542925" y="2148929"/>
            <a:ext cx="82484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710C51-B938-FA00-FB54-2D77D6307C50}"/>
              </a:ext>
            </a:extLst>
          </p:cNvPr>
          <p:cNvSpPr/>
          <p:nvPr/>
        </p:nvSpPr>
        <p:spPr>
          <a:xfrm>
            <a:off x="403413" y="779265"/>
            <a:ext cx="8382000" cy="36195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This Research Matters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65FD750-650A-9BCB-73F3-ADCF4DE57C02}"/>
              </a:ext>
            </a:extLst>
          </p:cNvPr>
          <p:cNvSpPr/>
          <p:nvPr/>
        </p:nvSpPr>
        <p:spPr>
          <a:xfrm>
            <a:off x="542925" y="2587079"/>
            <a:ext cx="82484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254DCAF-216F-BF37-2191-B3B428B7B617}"/>
              </a:ext>
            </a:extLst>
          </p:cNvPr>
          <p:cNvSpPr/>
          <p:nvPr/>
        </p:nvSpPr>
        <p:spPr>
          <a:xfrm>
            <a:off x="476155" y="1353058"/>
            <a:ext cx="8382000" cy="1493341"/>
          </a:xfrm>
          <a:prstGeom prst="roundRect">
            <a:avLst>
              <a:gd name="adj" fmla="val 38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/>
              <a:t>AV failures mostly occur in rare, complex scenarios</a:t>
            </a:r>
          </a:p>
          <a:p>
            <a:pPr marL="0" indent="0">
              <a:buNone/>
            </a:pPr>
            <a:endParaRPr lang="en-US" sz="1200" b="1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Occlusion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Crowded environments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Poor illumination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03AA2F3-2612-3327-579A-23E11AFB5655}"/>
              </a:ext>
            </a:extLst>
          </p:cNvPr>
          <p:cNvSpPr/>
          <p:nvPr/>
        </p:nvSpPr>
        <p:spPr>
          <a:xfrm>
            <a:off x="662750" y="3488085"/>
            <a:ext cx="4080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300"/>
              </a:spcAft>
              <a:buNone/>
            </a:pP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938DFD4-36CD-0881-6FC0-06A7F0DF33EB}"/>
              </a:ext>
            </a:extLst>
          </p:cNvPr>
          <p:cNvSpPr/>
          <p:nvPr/>
        </p:nvSpPr>
        <p:spPr>
          <a:xfrm>
            <a:off x="662750" y="3846165"/>
            <a:ext cx="4080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endParaRPr lang="en-US" sz="7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79413FA-9C93-8E50-527F-119D1179BF79}"/>
              </a:ext>
            </a:extLst>
          </p:cNvPr>
          <p:cNvSpPr/>
          <p:nvPr/>
        </p:nvSpPr>
        <p:spPr>
          <a:xfrm>
            <a:off x="1314450" y="361384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endParaRPr lang="en-US" sz="13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0C87AB6-D942-81AD-6AE0-DAEE4F3A1A99}"/>
              </a:ext>
            </a:extLst>
          </p:cNvPr>
          <p:cNvSpPr/>
          <p:nvPr/>
        </p:nvSpPr>
        <p:spPr>
          <a:xfrm>
            <a:off x="1688783" y="3234779"/>
            <a:ext cx="6800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150"/>
              </a:spcAft>
              <a:buNone/>
            </a:pP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6D748F1-434C-F97A-5673-27C7E6740934}"/>
              </a:ext>
            </a:extLst>
          </p:cNvPr>
          <p:cNvSpPr/>
          <p:nvPr/>
        </p:nvSpPr>
        <p:spPr>
          <a:xfrm>
            <a:off x="1688783" y="3467100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endParaRPr lang="en-US" sz="7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8639B0C-DE09-DC7E-5DCF-20E7593B39BE}"/>
              </a:ext>
            </a:extLst>
          </p:cNvPr>
          <p:cNvSpPr/>
          <p:nvPr/>
        </p:nvSpPr>
        <p:spPr>
          <a:xfrm>
            <a:off x="1688783" y="3867150"/>
            <a:ext cx="6800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150"/>
              </a:spcAft>
              <a:buNone/>
            </a:pP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2B9A3FB-23D2-492F-79BF-C2B45538B9B5}"/>
              </a:ext>
            </a:extLst>
          </p:cNvPr>
          <p:cNvSpPr/>
          <p:nvPr/>
        </p:nvSpPr>
        <p:spPr>
          <a:xfrm>
            <a:off x="1688783" y="4099471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7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B081AA0-34DA-A04E-C558-C4B8E0E6542F}"/>
              </a:ext>
            </a:extLst>
          </p:cNvPr>
          <p:cNvSpPr/>
          <p:nvPr/>
        </p:nvSpPr>
        <p:spPr>
          <a:xfrm>
            <a:off x="2571750" y="361384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endParaRPr lang="en-US" sz="13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1235C80-DE32-35E0-920B-D95C18182423}"/>
              </a:ext>
            </a:extLst>
          </p:cNvPr>
          <p:cNvSpPr/>
          <p:nvPr/>
        </p:nvSpPr>
        <p:spPr>
          <a:xfrm>
            <a:off x="2965514" y="3528120"/>
            <a:ext cx="64122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00"/>
              </a:spcAft>
              <a:buNone/>
            </a:pPr>
            <a:endParaRPr lang="en-US" sz="13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25569C5-DD47-13CF-D1C0-DF4329E6A3B0}"/>
              </a:ext>
            </a:extLst>
          </p:cNvPr>
          <p:cNvSpPr/>
          <p:nvPr/>
        </p:nvSpPr>
        <p:spPr>
          <a:xfrm>
            <a:off x="2965514" y="3806130"/>
            <a:ext cx="641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00D3AB9-764B-EBAE-F614-620AC064289E}"/>
              </a:ext>
            </a:extLst>
          </p:cNvPr>
          <p:cNvSpPr/>
          <p:nvPr/>
        </p:nvSpPr>
        <p:spPr>
          <a:xfrm>
            <a:off x="3829050" y="361384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endParaRPr lang="en-US" sz="13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CE4C8CF-DD9E-72C4-305E-358A4536BF6B}"/>
              </a:ext>
            </a:extLst>
          </p:cNvPr>
          <p:cNvSpPr/>
          <p:nvPr/>
        </p:nvSpPr>
        <p:spPr>
          <a:xfrm>
            <a:off x="4244150" y="3488085"/>
            <a:ext cx="4080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300"/>
              </a:spcAft>
              <a:buNone/>
            </a:pPr>
            <a:endParaRPr lang="en-US" sz="18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352580A-210C-36AA-6211-5738C7617D28}"/>
              </a:ext>
            </a:extLst>
          </p:cNvPr>
          <p:cNvSpPr/>
          <p:nvPr/>
        </p:nvSpPr>
        <p:spPr>
          <a:xfrm>
            <a:off x="4244150" y="3846165"/>
            <a:ext cx="4080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9055705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47650"/>
            <a:ext cx="38100" cy="2667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28600"/>
            <a:ext cx="28332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90600"/>
            <a:ext cx="8382000" cy="973336"/>
          </a:xfrm>
          <a:prstGeom prst="roundRect">
            <a:avLst>
              <a:gd name="adj" fmla="val 3914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90600"/>
            <a:ext cx="0" cy="97333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600" y="1219200"/>
            <a:ext cx="81221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Safety-Critical Challenge</a:t>
            </a:r>
            <a:endParaRPr lang="en-US" sz="1350" b="1" dirty="0"/>
          </a:p>
        </p:txBody>
      </p:sp>
      <p:sp>
        <p:nvSpPr>
          <p:cNvPr id="7" name="Text 5"/>
          <p:cNvSpPr/>
          <p:nvPr/>
        </p:nvSpPr>
        <p:spPr>
          <a:xfrm>
            <a:off x="609600" y="1535311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Single perception models can fail silently with high confidence in safety-critical scenarios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177555"/>
            <a:ext cx="8331706" cy="1763315"/>
          </a:xfrm>
          <a:prstGeom prst="roundRect">
            <a:avLst>
              <a:gd name="adj" fmla="val 369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on average accuracy (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Assume a single model is sufficient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reason about uncertainty</a:t>
            </a:r>
          </a:p>
        </p:txBody>
      </p:sp>
      <p:sp>
        <p:nvSpPr>
          <p:cNvPr id="9" name="Text 7"/>
          <p:cNvSpPr/>
          <p:nvPr/>
        </p:nvSpPr>
        <p:spPr>
          <a:xfrm>
            <a:off x="552450" y="2363986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AV perception models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52450" y="2594372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2450" y="283056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40195" y="3269606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819650" y="2594372"/>
            <a:ext cx="38473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9650" y="283056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</a:pPr>
            <a:endParaRPr lang="en-US" sz="825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16" name="Image 0" descr="/tmp/rasterized-gradient-9c5401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362" y="4184750"/>
            <a:ext cx="6520876" cy="5676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59685" y="437525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architectures fail in different ways → Opportunity for redundancy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47650"/>
            <a:ext cx="38100" cy="2667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28600"/>
            <a:ext cx="38001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State-of-the-Art AV Detectors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990600"/>
            <a:ext cx="4095750" cy="518071"/>
          </a:xfrm>
          <a:prstGeom prst="roundRect">
            <a:avLst>
              <a:gd name="adj" fmla="val 735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6628" y="1143000"/>
            <a:ext cx="394449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CNN-Based Detectors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0999" y="1656308"/>
            <a:ext cx="4095750" cy="194860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813471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YOLO, Faster R-CNN</a:t>
            </a:r>
            <a:endParaRPr lang="en-US"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33400" y="20687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Strengths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33400" y="2253407"/>
            <a:ext cx="386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Fast inference speed</a:t>
            </a:r>
            <a:endParaRPr lang="en-US" sz="750" b="1" dirty="0"/>
          </a:p>
        </p:txBody>
      </p:sp>
      <p:sp>
        <p:nvSpPr>
          <p:cNvPr id="10" name="Text 8"/>
          <p:cNvSpPr/>
          <p:nvPr/>
        </p:nvSpPr>
        <p:spPr>
          <a:xfrm>
            <a:off x="533400" y="2434382"/>
            <a:ext cx="386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Strong spatial inductive bias</a:t>
            </a:r>
            <a:endParaRPr lang="en-US" sz="750" b="1" dirty="0"/>
          </a:p>
        </p:txBody>
      </p:sp>
      <p:sp>
        <p:nvSpPr>
          <p:cNvPr id="11" name="Text 9"/>
          <p:cNvSpPr/>
          <p:nvPr/>
        </p:nvSpPr>
        <p:spPr>
          <a:xfrm>
            <a:off x="533400" y="269155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Weaknesses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33400" y="2876252"/>
            <a:ext cx="386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Small object detection</a:t>
            </a:r>
            <a:endParaRPr lang="en-US" sz="750" b="1" dirty="0"/>
          </a:p>
        </p:txBody>
      </p:sp>
      <p:sp>
        <p:nvSpPr>
          <p:cNvPr id="13" name="Text 11"/>
          <p:cNvSpPr/>
          <p:nvPr/>
        </p:nvSpPr>
        <p:spPr>
          <a:xfrm>
            <a:off x="533400" y="3057227"/>
            <a:ext cx="386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occlusion</a:t>
            </a:r>
            <a:endParaRPr lang="en-US" sz="750" b="1" dirty="0"/>
          </a:p>
        </p:txBody>
      </p:sp>
      <p:sp>
        <p:nvSpPr>
          <p:cNvPr id="14" name="Text 12"/>
          <p:cNvSpPr/>
          <p:nvPr/>
        </p:nvSpPr>
        <p:spPr>
          <a:xfrm>
            <a:off x="533400" y="3238202"/>
            <a:ext cx="386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receptive field</a:t>
            </a:r>
            <a:endParaRPr lang="en-US" sz="750" b="1" dirty="0"/>
          </a:p>
        </p:txBody>
      </p:sp>
      <p:sp>
        <p:nvSpPr>
          <p:cNvPr id="15" name="Text 13"/>
          <p:cNvSpPr/>
          <p:nvPr/>
        </p:nvSpPr>
        <p:spPr>
          <a:xfrm>
            <a:off x="4667250" y="990600"/>
            <a:ext cx="4095750" cy="518071"/>
          </a:xfrm>
          <a:prstGeom prst="roundRect">
            <a:avLst>
              <a:gd name="adj" fmla="val 7354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42879" y="1143000"/>
            <a:ext cx="394449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Transformer-Based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7250" y="1622971"/>
            <a:ext cx="4095750" cy="194860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650" y="1813471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DETR, Swin</a:t>
            </a:r>
            <a:endParaRPr lang="en-US" sz="10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19650" y="20687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Strengths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19650" y="2253407"/>
            <a:ext cx="386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Global context understanding</a:t>
            </a:r>
            <a:endParaRPr lang="en-US" sz="750" b="1" dirty="0"/>
          </a:p>
        </p:txBody>
      </p:sp>
      <p:sp>
        <p:nvSpPr>
          <p:cNvPr id="21" name="Text 19"/>
          <p:cNvSpPr/>
          <p:nvPr/>
        </p:nvSpPr>
        <p:spPr>
          <a:xfrm>
            <a:off x="4819650" y="2434382"/>
            <a:ext cx="386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Set-based prediction</a:t>
            </a:r>
            <a:endParaRPr lang="en-US" sz="750" b="1" dirty="0"/>
          </a:p>
        </p:txBody>
      </p:sp>
      <p:sp>
        <p:nvSpPr>
          <p:cNvPr id="22" name="Text 20"/>
          <p:cNvSpPr/>
          <p:nvPr/>
        </p:nvSpPr>
        <p:spPr>
          <a:xfrm>
            <a:off x="4819650" y="269155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Weaknesses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19650" y="2876252"/>
            <a:ext cx="386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Distribution shift sensitivity</a:t>
            </a:r>
            <a:endParaRPr lang="en-US" sz="750" b="1" dirty="0"/>
          </a:p>
        </p:txBody>
      </p:sp>
      <p:sp>
        <p:nvSpPr>
          <p:cNvPr id="24" name="Text 22"/>
          <p:cNvSpPr/>
          <p:nvPr/>
        </p:nvSpPr>
        <p:spPr>
          <a:xfrm>
            <a:off x="4819650" y="3057227"/>
            <a:ext cx="386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High computation cost</a:t>
            </a:r>
            <a:endParaRPr lang="en-US" sz="750" b="1" dirty="0"/>
          </a:p>
        </p:txBody>
      </p:sp>
      <p:sp>
        <p:nvSpPr>
          <p:cNvPr id="25" name="Text 23"/>
          <p:cNvSpPr/>
          <p:nvPr/>
        </p:nvSpPr>
        <p:spPr>
          <a:xfrm>
            <a:off x="4819650" y="3238202"/>
            <a:ext cx="386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Overconfident predictions</a:t>
            </a:r>
            <a:endParaRPr lang="en-US" sz="750" b="1" dirty="0"/>
          </a:p>
        </p:txBody>
      </p:sp>
      <p:sp>
        <p:nvSpPr>
          <p:cNvPr id="26" name="Text 24"/>
          <p:cNvSpPr/>
          <p:nvPr/>
        </p:nvSpPr>
        <p:spPr>
          <a:xfrm>
            <a:off x="209550" y="4500804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architectural biases lead to complementary failure patterns</a:t>
            </a:r>
            <a:endParaRPr lang="en-US" sz="750" b="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47650"/>
            <a:ext cx="38100" cy="2667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28600"/>
            <a:ext cx="62772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Architectural Failure Diversity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255663"/>
            <a:ext cx="4114800" cy="1382613"/>
          </a:xfrm>
          <a:prstGeom prst="roundRect">
            <a:avLst>
              <a:gd name="adj" fmla="val 2756"/>
            </a:avLst>
          </a:prstGeom>
          <a:solidFill>
            <a:srgbClr val="FFF5F5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484263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Failure Modes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785193"/>
            <a:ext cx="38084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objects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2006054"/>
            <a:ext cx="38084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occlusion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2226915"/>
            <a:ext cx="38084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receptive field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8200" y="1255663"/>
            <a:ext cx="4114800" cy="1382613"/>
          </a:xfrm>
          <a:prstGeom prst="roundRect">
            <a:avLst>
              <a:gd name="adj" fmla="val 2756"/>
            </a:avLst>
          </a:prstGeom>
          <a:solidFill>
            <a:srgbClr val="FFF5F5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8700" y="1484263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Failure Modes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38700" y="1785193"/>
            <a:ext cx="38084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shift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38700" y="2006054"/>
            <a:ext cx="38084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bottlenecks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38700" y="2226915"/>
            <a:ext cx="38084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Overconfident predictions</a:t>
            </a:r>
            <a:endParaRPr lang="en-US" sz="900" dirty="0"/>
          </a:p>
        </p:txBody>
      </p:sp>
      <p:pic>
        <p:nvPicPr>
          <p:cNvPr id="14" name="Image 0" descr="/tmp/rasterized-gradient-b54343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28776"/>
            <a:ext cx="8382000" cy="204966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08076" y="3171676"/>
            <a:ext cx="7927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08076" y="3590776"/>
            <a:ext cx="79278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Disagreement between models is a useful uncertainty signal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07593" y="4025057"/>
            <a:ext cx="666304" cy="548580"/>
          </a:xfrm>
          <a:prstGeom prst="roundRect">
            <a:avLst>
              <a:gd name="adj" fmla="val 694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595240" y="4139357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301032" y="4112716"/>
            <a:ext cx="14937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3677543" y="4025057"/>
            <a:ext cx="666304" cy="548580"/>
          </a:xfrm>
          <a:prstGeom prst="roundRect">
            <a:avLst>
              <a:gd name="adj" fmla="val 694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865190" y="4139357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🔷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70888" y="4112716"/>
            <a:ext cx="1589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4956870" y="4078337"/>
            <a:ext cx="1779389" cy="441871"/>
          </a:xfrm>
          <a:prstGeom prst="roundRect">
            <a:avLst>
              <a:gd name="adj" fmla="val 8622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33386" y="4192637"/>
            <a:ext cx="14263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High Uncertainty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81000"/>
            <a:ext cx="38100" cy="2667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82106"/>
            <a:ext cx="31789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615529"/>
            <a:ext cx="8382000" cy="36195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288" y="1615529"/>
            <a:ext cx="0" cy="36195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2925" y="1710779"/>
            <a:ext cx="82484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Parallel:</a:t>
            </a: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CNN + Transformer detectors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053679"/>
            <a:ext cx="8382000" cy="36195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5288" y="2053679"/>
            <a:ext cx="0" cy="36195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2925" y="2148929"/>
            <a:ext cx="82484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Tasks:</a:t>
            </a: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Pedestrian + Path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491829"/>
            <a:ext cx="8382000" cy="36195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2491829"/>
            <a:ext cx="0" cy="36195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2925" y="2587079"/>
            <a:ext cx="82484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Fusion:</a:t>
            </a: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Disagreement analysis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2987129"/>
            <a:ext cx="8382000" cy="1493341"/>
          </a:xfrm>
          <a:prstGeom prst="roundRect">
            <a:avLst>
              <a:gd name="adj" fmla="val 38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400" y="3354735"/>
            <a:ext cx="666750" cy="75813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A233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2750" y="3488085"/>
            <a:ext cx="4080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750" y="3846165"/>
            <a:ext cx="4080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314450" y="361384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00200" y="3139529"/>
            <a:ext cx="857250" cy="556171"/>
          </a:xfrm>
          <a:prstGeom prst="roundRect">
            <a:avLst>
              <a:gd name="adj" fmla="val 685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88783" y="3234779"/>
            <a:ext cx="6800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15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88783" y="3467100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600200" y="3771900"/>
            <a:ext cx="857250" cy="556171"/>
          </a:xfrm>
          <a:prstGeom prst="roundRect">
            <a:avLst>
              <a:gd name="adj" fmla="val 6850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88783" y="3867150"/>
            <a:ext cx="6800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150"/>
              </a:spcAft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88783" y="4099471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71750" y="361384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857500" y="3413820"/>
            <a:ext cx="857250" cy="639961"/>
          </a:xfrm>
          <a:prstGeom prst="roundRect">
            <a:avLst>
              <a:gd name="adj" fmla="val 5953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965514" y="3528120"/>
            <a:ext cx="64122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965514" y="3806130"/>
            <a:ext cx="641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29050" y="361384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114800" y="3354735"/>
            <a:ext cx="666750" cy="75813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244150" y="3488085"/>
            <a:ext cx="4080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244150" y="3846165"/>
            <a:ext cx="4080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47650"/>
            <a:ext cx="38100" cy="2667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28600"/>
            <a:ext cx="22113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Ensemble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28700"/>
            <a:ext cx="4076700" cy="1684883"/>
          </a:xfrm>
          <a:prstGeom prst="roundRect">
            <a:avLst>
              <a:gd name="adj" fmla="val 4523"/>
            </a:avLst>
          </a:prstGeom>
          <a:solidFill>
            <a:srgbClr val="E8F5F3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5112" y="1238250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Ensemble Provides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0420" y="1603921"/>
            <a:ext cx="361674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in safety-critical cases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40420" y="1961108"/>
            <a:ext cx="361674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overconfident failures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40420" y="2318296"/>
            <a:ext cx="361674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of risky perception states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686300" y="1028700"/>
            <a:ext cx="4076700" cy="1327696"/>
          </a:xfrm>
          <a:prstGeom prst="roundRect">
            <a:avLst>
              <a:gd name="adj" fmla="val 5739"/>
            </a:avLst>
          </a:prstGeom>
          <a:solidFill>
            <a:srgbClr val="FFF5F5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0412" y="1238250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Claim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45720" y="1603921"/>
            <a:ext cx="361674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detection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045720" y="1961108"/>
            <a:ext cx="361674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Deployment-ready autonomy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81000" y="4290120"/>
            <a:ext cx="8382000" cy="567630"/>
          </a:xfrm>
          <a:prstGeom prst="roundRect">
            <a:avLst>
              <a:gd name="adj" fmla="val 6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0352" y="4480620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Safety through uncertainty awareness, not marginal accuracy gains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47650"/>
            <a:ext cx="38100" cy="2667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28600"/>
            <a:ext cx="33339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Philosophy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470422"/>
            <a:ext cx="2705100" cy="1079897"/>
          </a:xfrm>
          <a:prstGeom prst="roundRect">
            <a:avLst>
              <a:gd name="adj" fmla="val 3528"/>
            </a:avLst>
          </a:prstGeom>
          <a:solidFill>
            <a:srgbClr val="FFF5F5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9397" y="1622822"/>
            <a:ext cx="24483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Aft>
                <a:spcPts val="45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🚷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9397" y="2053233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Occlusion-Heavy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09397" y="2264569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hidden objects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19450" y="1470422"/>
            <a:ext cx="2705100" cy="1079897"/>
          </a:xfrm>
          <a:prstGeom prst="roundRect">
            <a:avLst>
              <a:gd name="adj" fmla="val 3528"/>
            </a:avLst>
          </a:prstGeom>
          <a:solidFill>
            <a:srgbClr val="FFF5F5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47847" y="1622822"/>
            <a:ext cx="24483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Aft>
                <a:spcPts val="45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347847" y="2053233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Crowded Scenes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347847" y="2264569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pedestrians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57900" y="1470422"/>
            <a:ext cx="2705100" cy="1079897"/>
          </a:xfrm>
          <a:prstGeom prst="roundRect">
            <a:avLst>
              <a:gd name="adj" fmla="val 3528"/>
            </a:avLst>
          </a:prstGeom>
          <a:solidFill>
            <a:srgbClr val="FFF5F5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6297" y="1622822"/>
            <a:ext cx="24483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Aft>
                <a:spcPts val="45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186297" y="2053233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Visibility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186297" y="2264569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lighting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2683669"/>
            <a:ext cx="8382000" cy="1022747"/>
          </a:xfrm>
          <a:prstGeom prst="roundRect">
            <a:avLst>
              <a:gd name="adj" fmla="val 5588"/>
            </a:avLst>
          </a:prstGeom>
          <a:solidFill>
            <a:srgbClr val="F8F9FA"/>
          </a:solidFill>
          <a:ln w="19050">
            <a:solidFill>
              <a:srgbClr val="DEE2E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490" y="2874169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vs Correctness Analysis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990773" y="3142655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456902" y="3142655"/>
            <a:ext cx="3394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924124" y="3142655"/>
            <a:ext cx="2280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pic>
        <p:nvPicPr>
          <p:cNvPr id="21" name="Image 0" descr="/tmp/rasterized-gradient-3c287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839766"/>
            <a:ext cx="8382000" cy="78581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28650" y="4011216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628650" y="4268391"/>
            <a:ext cx="812215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WHEN models fail, not just HOW OFTEN</a:t>
            </a:r>
            <a:endParaRPr lang="en-US" sz="97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47650"/>
            <a:ext cx="38100" cy="2667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28600"/>
            <a:ext cx="28322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Contributions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74578" y="2040731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97300" y="2092226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50828" y="2040731"/>
            <a:ext cx="3518446" cy="481012"/>
          </a:xfrm>
          <a:prstGeom prst="roundRect">
            <a:avLst>
              <a:gd name="adj" fmla="val 79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69878" y="2040731"/>
            <a:ext cx="0" cy="481012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90141" y="2174081"/>
            <a:ext cx="327791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Architecture-level failure analysis for AV perception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056872" y="280243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49338" y="2851844"/>
            <a:ext cx="15796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3545" y="2734867"/>
            <a:ext cx="3394174" cy="481012"/>
          </a:xfrm>
          <a:prstGeom prst="roundRect">
            <a:avLst>
              <a:gd name="adj" fmla="val 79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468444" y="2755152"/>
            <a:ext cx="0" cy="481012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83811" y="2864644"/>
            <a:ext cx="315116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model disagreement as uncertainty signal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473545" y="349091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83811" y="3535537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907082" y="3421857"/>
            <a:ext cx="2727127" cy="481012"/>
          </a:xfrm>
          <a:prstGeom prst="roundRect">
            <a:avLst>
              <a:gd name="adj" fmla="val 79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892075" y="3414987"/>
            <a:ext cx="0" cy="481013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3983" y="3548338"/>
            <a:ext cx="247077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12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Failure-aware evaluation methodology</a:t>
            </a:r>
            <a:endParaRPr lang="en-US" sz="112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782" y="495516"/>
            <a:ext cx="38100" cy="2667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3513" y="495516"/>
            <a:ext cx="16581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9568" y="1238466"/>
            <a:ext cx="78977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1125" dirty="0">
                <a:latin typeface="Arial" pitchFamily="34" charset="0"/>
                <a:ea typeface="Arial" pitchFamily="34" charset="-122"/>
                <a:cs typeface="Arial" pitchFamily="34" charset="-120"/>
              </a:rPr>
              <a:t>Increased computational cost from running multiple models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829567" y="1613628"/>
            <a:ext cx="78977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1125" dirty="0">
                <a:latin typeface="Arial" pitchFamily="34" charset="0"/>
                <a:ea typeface="Arial" pitchFamily="34" charset="-122"/>
                <a:cs typeface="Arial" pitchFamily="34" charset="-120"/>
              </a:rPr>
              <a:t>Ensemble complexity in integration and maintenance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29568" y="2030760"/>
            <a:ext cx="78977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1125" dirty="0">
                <a:latin typeface="Arial" pitchFamily="34" charset="0"/>
                <a:ea typeface="Arial" pitchFamily="34" charset="-122"/>
                <a:cs typeface="Arial" pitchFamily="34" charset="-120"/>
              </a:rPr>
              <a:t>Some shared failure modes remain across architectures</a:t>
            </a:r>
            <a:endParaRPr lang="en-US" sz="1125" dirty="0"/>
          </a:p>
        </p:txBody>
      </p:sp>
      <p:pic>
        <p:nvPicPr>
          <p:cNvPr id="7" name="Image 0" descr="/tmp/rasterized-gradient-c7479c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12740"/>
            <a:ext cx="8001000" cy="13181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6300" y="3379440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acceptable: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6300" y="3707011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Safety-critical systems require reliability over simplicity. The cost of a false negative in autonomous driving far outweighs computational overhead.</a:t>
            </a:r>
            <a:endParaRPr lang="en-US" sz="112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47650"/>
            <a:ext cx="38100" cy="2667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28600"/>
            <a:ext cx="2102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2400" dirty="0"/>
          </a:p>
        </p:txBody>
      </p:sp>
      <p:pic>
        <p:nvPicPr>
          <p:cNvPr id="4" name="Image 0" descr="/tmp/rasterized-gradient-5f4936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04" y="1482030"/>
            <a:ext cx="7455991" cy="1676400"/>
          </a:xfrm>
          <a:prstGeom prst="rect">
            <a:avLst/>
          </a:prstGeom>
          <a:effectLst>
            <a:outerShdw blurRad="304800" dist="76200" dir="54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235788" y="1977330"/>
            <a:ext cx="66724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driving safety improves not by perfect models,</a:t>
            </a:r>
            <a:endParaRPr lang="en-US" sz="1800" dirty="0"/>
          </a:p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by understanding when perception models fail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079254" y="361563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E8F5F3"/>
          </a:solidFill>
          <a:ln w="28575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47579" y="4263330"/>
            <a:ext cx="6349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94125" y="361563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E8F5F3"/>
          </a:solidFill>
          <a:ln w="28575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971178" y="4263330"/>
            <a:ext cx="10173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Aware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00973" y="361563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E8F5F3"/>
          </a:solidFill>
          <a:ln w="28575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275332" y="4263330"/>
            <a:ext cx="8227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Failure-Centric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426</Words>
  <Application>Microsoft Office PowerPoint</Application>
  <PresentationFormat>On-screen Show (16:9)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AIU-B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Failure-Aware Ensemble Perception for Autonomous Vehicles</dc:title>
  <dc:subject>Failure-Aware Ensemble Perception</dc:subject>
  <dc:creator>American International University - Bangladesh</dc:creator>
  <cp:lastModifiedBy>ABDULLAH AL RAFE AYON</cp:lastModifiedBy>
  <cp:revision>5</cp:revision>
  <dcterms:created xsi:type="dcterms:W3CDTF">2026-01-03T04:12:49Z</dcterms:created>
  <dcterms:modified xsi:type="dcterms:W3CDTF">2026-01-05T05:06:36Z</dcterms:modified>
</cp:coreProperties>
</file>